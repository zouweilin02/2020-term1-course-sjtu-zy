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45C9ED-EDE8-47D9-9872-3CB426D97B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AF9DD0D-BF66-4B36-AD04-C688A80E3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8E82DC-5A63-4E2D-B096-7B1D2A0DA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69FD-0620-4563-B65A-B53FDFE113E2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975629-40D9-459B-91C5-1A15C21B7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1E0EA4-B154-4BFE-A5AB-232398B93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F9548-29E5-4353-9795-B25FFAF6C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631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17AFFD-E2BC-4668-B755-DD9453F8F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6CE55A-32D6-4503-873B-40ED2CA52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12CD6C-FDF0-4CCA-AC72-A7443D249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69FD-0620-4563-B65A-B53FDFE113E2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A67714-856F-4BDF-A2AA-44FF36225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EC8C20-07CA-4C53-81E6-671B1C870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F9548-29E5-4353-9795-B25FFAF6C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944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8D678C-22C0-4754-9F9B-8C1FE3FB5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FB3B68-1725-4546-9EAF-C2E221FAB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4042C9-A73A-4752-9C08-542649CCB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69FD-0620-4563-B65A-B53FDFE113E2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BAAC11-177C-4971-93C6-8EFA308F3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F6CD5C-9F6F-47F0-AD03-91F069BD9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F9548-29E5-4353-9795-B25FFAF6C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16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8EEC14-311F-43BD-9381-E2E11A24E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161B8C-3BE2-4C3C-A280-CED16E8A6C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3F8F18-8CD4-49F8-B10C-324362F3E2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6F5C78-9F54-4D02-8814-E44D32BCD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69FD-0620-4563-B65A-B53FDFE113E2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2814F0-3794-4456-B789-1ADB6B733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7DADF5-7591-473C-9281-A086256C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F9548-29E5-4353-9795-B25FFAF6C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400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9443E9-5D3A-4064-BD56-AF04E425D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AA50A2-FA87-45D5-A334-813185225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0A5E3B9-8D6E-4CE5-B834-871BB5B83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1C275C2-40B1-4B40-AC82-C8582AF013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6CCD18A-9CF1-402D-86D6-33589B9EA3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270FDDA-7F01-442A-99AD-7EEE92E70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69FD-0620-4563-B65A-B53FDFE113E2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A46C221-5F53-44B6-BF0F-EE69E5375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BBAA07E-C8EA-4068-97D1-F7859C2F6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F9548-29E5-4353-9795-B25FFAF6C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030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979862-89B6-468F-93C4-437D5EDA7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07D05E0-CF4D-43FA-BA41-CB848CA01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69FD-0620-4563-B65A-B53FDFE113E2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EBB9C6B-768F-4205-855F-234F3726D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261FB7E-A97C-4DB3-8954-EC71BE097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F9548-29E5-4353-9795-B25FFAF6C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6347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EA756B8-5684-4B51-BB28-975E1A19A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69FD-0620-4563-B65A-B53FDFE113E2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5FFB259-55EB-4F7C-A86D-2100505FB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C9EC14-4F02-40D3-96CD-119C234DE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F9548-29E5-4353-9795-B25FFAF6C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704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0677AC-F180-451F-AA1A-B0C4D26C5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43BD1B-DC9F-4B2F-8062-A50625A70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254CD95-3742-4399-9E36-FBEB8E05B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268567-C683-4EDB-90BF-2563E9BC6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69FD-0620-4563-B65A-B53FDFE113E2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047DD9-05F6-4FF0-8E4E-EAA18415C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EDD535-34C4-479B-905E-223191E11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F9548-29E5-4353-9795-B25FFAF6C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717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81EF05-E140-4D85-B953-82D8D8E1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F5CA6CE-D648-4ED3-BDB4-74FE13FAFB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B6B5348-099D-4374-861E-8D0A0391C7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616EC63-14E9-4537-BA99-EAFB96BA1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69FD-0620-4563-B65A-B53FDFE113E2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97B28E-9248-4164-A3CA-2F58AA6CB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D759D7-E5D6-448F-B37F-CA0E271FB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F9548-29E5-4353-9795-B25FFAF6C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0786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7C4617-7BA7-4B13-8E80-46F1F5D55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FDA0DE5-8D91-4D1E-B2DB-387A956963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DB1C10-D300-47E5-A6FC-E4043E951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69FD-0620-4563-B65A-B53FDFE113E2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87A0AD-1F50-47BC-B15B-2DCA7AC0E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28E985-21C1-47C4-B8B8-7B43BA3B6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F9548-29E5-4353-9795-B25FFAF6C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272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6A732C8-46CA-41DB-9CC1-991C88D6F9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D90D5F-8249-414E-9A4D-AD8359CE19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40AE8C-9859-41F0-A76D-6FDE1E487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69FD-0620-4563-B65A-B53FDFE113E2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B069CF-7EDC-4F28-BC6E-25D30E1BA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FFBFE2-6C4D-48F0-A0B6-B15240828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F9548-29E5-4353-9795-B25FFAF6C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022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DD8948F-4076-4F74-877A-2633361F5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8C7E42-1718-4D7D-9E51-D1336FE24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BB1576-3A61-4285-BA63-C43A1A62FF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F69FD-0620-4563-B65A-B53FDFE113E2}" type="datetimeFigureOut">
              <a:rPr lang="zh-CN" altLang="en-US" smtClean="0"/>
              <a:t>2020/10/13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8038D5-10E2-44CC-AC95-0A3C6EE75D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DF44FC-D8AF-4455-B877-D6BD5253E1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F9548-29E5-4353-9795-B25FFAF6C2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0827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5C777BB-0ABA-490F-835E-CF261865D38F}"/>
              </a:ext>
            </a:extLst>
          </p:cNvPr>
          <p:cNvSpPr/>
          <p:nvPr/>
        </p:nvSpPr>
        <p:spPr>
          <a:xfrm>
            <a:off x="1502435" y="943982"/>
            <a:ext cx="91871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醋酸电离常数和电离度的测定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73D1A61-20CE-48D9-916E-AC8B851E4B88}"/>
              </a:ext>
            </a:extLst>
          </p:cNvPr>
          <p:cNvSpPr/>
          <p:nvPr/>
        </p:nvSpPr>
        <p:spPr>
          <a:xfrm>
            <a:off x="3557488" y="2967335"/>
            <a:ext cx="50770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致远化学第三组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9C457D7-E0F8-4B9F-A966-196D7700ADEF}"/>
              </a:ext>
            </a:extLst>
          </p:cNvPr>
          <p:cNvSpPr/>
          <p:nvPr/>
        </p:nvSpPr>
        <p:spPr>
          <a:xfrm>
            <a:off x="5204741" y="4739574"/>
            <a:ext cx="685957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0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邹维林 </a:t>
            </a:r>
            <a:r>
              <a:rPr lang="zh-CN" altLang="en-US" sz="40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邹贺同 </a:t>
            </a:r>
            <a:r>
              <a:rPr lang="zh-CN" altLang="en-US" sz="40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朱利豪 冷炳良</a:t>
            </a:r>
          </a:p>
        </p:txBody>
      </p:sp>
    </p:spTree>
    <p:extLst>
      <p:ext uri="{BB962C8B-B14F-4D97-AF65-F5344CB8AC3E}">
        <p14:creationId xmlns:p14="http://schemas.microsoft.com/office/powerpoint/2010/main" val="1247634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11F38A-AC2D-4C21-AAD6-EF6B54BE7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实验目的：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3775C4-9628-4CBB-960A-70BF42044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了解一种测定乙酸电离常数的方法和原理</a:t>
            </a:r>
            <a:endParaRPr lang="en-US" altLang="zh-CN" dirty="0"/>
          </a:p>
          <a:p>
            <a:r>
              <a:rPr lang="en-US" altLang="zh-CN" dirty="0"/>
              <a:t>2 </a:t>
            </a:r>
            <a:r>
              <a:rPr lang="zh-CN" altLang="en-US" dirty="0"/>
              <a:t>进一步加深有关电离平衡基本概念的认识和理解</a:t>
            </a:r>
            <a:endParaRPr lang="en-US" altLang="zh-CN" dirty="0"/>
          </a:p>
          <a:p>
            <a:r>
              <a:rPr lang="en-US" altLang="zh-CN" dirty="0"/>
              <a:t>3 </a:t>
            </a:r>
            <a:r>
              <a:rPr lang="zh-CN" altLang="en-US" dirty="0"/>
              <a:t>了解</a:t>
            </a:r>
            <a:r>
              <a:rPr lang="en-US" altLang="zh-CN" dirty="0"/>
              <a:t>pH</a:t>
            </a:r>
            <a:r>
              <a:rPr lang="zh-CN" altLang="en-US" dirty="0"/>
              <a:t>计的原理及使用方法，学习用</a:t>
            </a:r>
            <a:r>
              <a:rPr lang="en-US" altLang="zh-CN" dirty="0"/>
              <a:t>pH</a:t>
            </a:r>
            <a:r>
              <a:rPr lang="zh-CN" altLang="en-US" dirty="0"/>
              <a:t>计测定溶液的</a:t>
            </a:r>
            <a:r>
              <a:rPr lang="en-US" altLang="zh-CN" dirty="0"/>
              <a:t>pH</a:t>
            </a:r>
            <a:r>
              <a:rPr lang="zh-CN" altLang="en-US" dirty="0"/>
              <a:t>值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5267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1833E-5020-441A-9838-3F986A798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实验原理：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EDF8BBA2-0635-42EA-971E-A99118ED88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291765"/>
            <a:ext cx="10241604" cy="533277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531DBFA-A220-4126-BDAE-25D8EAFE17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9002" y="448736"/>
            <a:ext cx="1661304" cy="579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150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F5EBE9C0-30A1-4DB0-B52E-557DA50436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64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031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BDF4864-2CB4-4CD6-88C6-169B62DD7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7B3AEF13-9255-4AC2-9BA0-0AA00D2AA8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zh-CN" altLang="en-US" dirty="0"/>
                  <a:t>一  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乙酸溶液的配制和浓度的测定</a:t>
                </a:r>
                <a:endParaRPr lang="en-US" altLang="zh-CN" dirty="0"/>
              </a:p>
              <a:p>
                <a:r>
                  <a:rPr lang="en-US" altLang="zh-CN" dirty="0"/>
                  <a:t>       1   </a:t>
                </a:r>
                <a:r>
                  <a:rPr lang="zh-CN" altLang="en-US" dirty="0"/>
                  <a:t>用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：</a:t>
                </a:r>
                <a:r>
                  <a:rPr lang="en-US" altLang="zh-CN" dirty="0"/>
                  <a:t>1HAc</a:t>
                </a:r>
                <a:r>
                  <a:rPr lang="zh-CN" altLang="en-US" dirty="0"/>
                  <a:t>溶液配制</a:t>
                </a:r>
                <a:r>
                  <a:rPr lang="en-US" altLang="zh-CN" dirty="0"/>
                  <a:t>0.2mol·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dm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CN" dirty="0" err="1"/>
                  <a:t>HAc</a:t>
                </a:r>
                <a:r>
                  <a:rPr lang="zh-CN" altLang="en-US" dirty="0"/>
                  <a:t>溶液（根据可能的用量确定）（个人建议配需要的</a:t>
                </a:r>
                <a:r>
                  <a:rPr lang="en-US" altLang="zh-CN" dirty="0"/>
                  <a:t>1.5-2.0</a:t>
                </a:r>
                <a:r>
                  <a:rPr lang="zh-CN" altLang="en-US" dirty="0"/>
                  <a:t>倍体积）</a:t>
                </a:r>
                <a:endParaRPr lang="en-US" altLang="zh-CN" dirty="0"/>
              </a:p>
              <a:p>
                <a:r>
                  <a:rPr lang="en-US" altLang="zh-CN" dirty="0"/>
                  <a:t>       2   </a:t>
                </a:r>
                <a:r>
                  <a:rPr lang="zh-CN" altLang="en-US" dirty="0"/>
                  <a:t>浓度标定：用移液管平行戏曲三份</a:t>
                </a:r>
                <a:r>
                  <a:rPr lang="en-US" altLang="zh-CN" dirty="0"/>
                  <a:t>25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cm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0.2mol·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dm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CN" dirty="0" err="1"/>
                  <a:t>Hac</a:t>
                </a:r>
                <a:r>
                  <a:rPr lang="zh-CN" altLang="en-US" dirty="0"/>
                  <a:t>溶液，分别置于三个</a:t>
                </a:r>
                <a:r>
                  <a:rPr lang="en-US" altLang="zh-CN" dirty="0"/>
                  <a:t>250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cm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zh-CN" altLang="en-US" dirty="0"/>
                  <a:t>锥形瓶中，各加一滴酚酞。用已经标定好的标准</a:t>
                </a:r>
                <a:r>
                  <a:rPr lang="en-US" altLang="zh-CN" dirty="0"/>
                  <a:t>NaOH</a:t>
                </a:r>
                <a:r>
                  <a:rPr lang="zh-CN" altLang="en-US" dirty="0"/>
                  <a:t>（记录数据）滴定至溶液呈现微红色且半分钟不褪色。记下消耗</a:t>
                </a:r>
                <a:r>
                  <a:rPr lang="en-US" altLang="zh-CN" dirty="0"/>
                  <a:t>NaOH</a:t>
                </a:r>
                <a:r>
                  <a:rPr lang="zh-CN" altLang="en-US" dirty="0"/>
                  <a:t>溶液的体积，计算</a:t>
                </a:r>
                <a:r>
                  <a:rPr lang="en-US" altLang="zh-CN" dirty="0" err="1"/>
                  <a:t>HAc</a:t>
                </a:r>
                <a:r>
                  <a:rPr lang="zh-CN" altLang="en-US" dirty="0"/>
                  <a:t>溶液的精确浓度</a:t>
                </a:r>
                <a:endParaRPr lang="en-US" altLang="zh-CN" dirty="0"/>
              </a:p>
              <a:p>
                <a:r>
                  <a:rPr lang="zh-CN" altLang="en-US" dirty="0"/>
                  <a:t>二 配制不同浓度的乙酸溶液</a:t>
                </a:r>
                <a:endParaRPr lang="en-US" altLang="zh-CN" dirty="0"/>
              </a:p>
              <a:p>
                <a:r>
                  <a:rPr lang="en-US" altLang="zh-CN" dirty="0"/>
                  <a:t>        1 </a:t>
                </a:r>
                <a:r>
                  <a:rPr lang="zh-CN" altLang="en-US" dirty="0"/>
                  <a:t>用移液管和吸量管分别移取</a:t>
                </a:r>
                <a:r>
                  <a:rPr lang="en-US" altLang="zh-CN" dirty="0"/>
                  <a:t>50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cm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zh-CN" altLang="en-US" i="1">
                        <a:latin typeface="Cambria Math" panose="02040503050406030204" pitchFamily="18" charset="0"/>
                      </a:rPr>
                      <m:t>、</m:t>
                    </m:r>
                  </m:oMath>
                </a14:m>
                <a:r>
                  <a:rPr lang="en-US" altLang="zh-CN" dirty="0"/>
                  <a:t>25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cm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zh-CN" altLang="en-US" dirty="0"/>
                  <a:t>、</a:t>
                </a:r>
                <a:r>
                  <a:rPr lang="en-US" altLang="zh-CN" dirty="0"/>
                  <a:t>10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cm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zh-CN" altLang="en-US" dirty="0"/>
                  <a:t>、</a:t>
                </a:r>
                <a:r>
                  <a:rPr lang="en-US" altLang="zh-CN" dirty="0"/>
                  <a:t>5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cm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zh-CN" altLang="en-US" dirty="0"/>
                  <a:t>已经标定过的</a:t>
                </a:r>
                <a:r>
                  <a:rPr lang="en-US" altLang="zh-CN" dirty="0" err="1"/>
                  <a:t>HAc</a:t>
                </a:r>
                <a:r>
                  <a:rPr lang="zh-CN" altLang="en-US" dirty="0"/>
                  <a:t>溶液于四个已经编号的</a:t>
                </a:r>
                <a:r>
                  <a:rPr lang="en-US" altLang="zh-CN" dirty="0"/>
                  <a:t>100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cm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zh-CN" altLang="en-US" dirty="0"/>
                  <a:t>容量瓶（用前捡漏）中，用蒸馏水稀释至刻度，摇匀，即配得不同浓度的系列</a:t>
                </a:r>
                <a:r>
                  <a:rPr lang="en-US" altLang="zh-CN" dirty="0" err="1"/>
                  <a:t>HAc</a:t>
                </a:r>
                <a:r>
                  <a:rPr lang="zh-CN" altLang="en-US" dirty="0"/>
                  <a:t>溶液。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7B3AEF13-9255-4AC2-9BA0-0AA00D2AA8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2801" r="-4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390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DDC2038-B065-47F5-8ACA-97FF3F01CF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1905" y="145915"/>
                <a:ext cx="10515600" cy="5982410"/>
              </a:xfrm>
            </p:spPr>
            <p:txBody>
              <a:bodyPr/>
              <a:lstStyle/>
              <a:p>
                <a:r>
                  <a:rPr lang="zh-CN" altLang="en-US" dirty="0"/>
                  <a:t>三  乙酸溶液</a:t>
                </a:r>
                <a:r>
                  <a:rPr lang="en-US" altLang="zh-CN" dirty="0"/>
                  <a:t>pH</a:t>
                </a:r>
                <a:r>
                  <a:rPr lang="zh-CN" altLang="en-US" dirty="0"/>
                  <a:t>值的测定</a:t>
                </a:r>
                <a:endParaRPr lang="en-US" altLang="zh-CN" dirty="0"/>
              </a:p>
              <a:p>
                <a:r>
                  <a:rPr lang="en-US" altLang="zh-CN" dirty="0"/>
                  <a:t>      </a:t>
                </a:r>
                <a:r>
                  <a:rPr lang="zh-CN" altLang="en-US" dirty="0"/>
                  <a:t>用</a:t>
                </a:r>
                <a:r>
                  <a:rPr lang="en-US" altLang="zh-CN" dirty="0"/>
                  <a:t>50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cm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zh-CN" altLang="en-US" dirty="0"/>
                  <a:t>烧杯，取上述四种浓度及原</a:t>
                </a:r>
                <a:r>
                  <a:rPr lang="en-US" altLang="zh-CN" dirty="0"/>
                  <a:t>0.2mol·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dm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r>
                  <a:rPr lang="zh-CN" altLang="en-US" dirty="0"/>
                  <a:t>的</a:t>
                </a:r>
                <a:r>
                  <a:rPr lang="en-US" altLang="zh-CN" dirty="0" err="1"/>
                  <a:t>HAc</a:t>
                </a:r>
                <a:r>
                  <a:rPr lang="zh-CN" altLang="en-US" dirty="0"/>
                  <a:t>溶液各</a:t>
                </a:r>
                <a:r>
                  <a:rPr lang="en-US" altLang="zh-CN" dirty="0"/>
                  <a:t>40~50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cm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zh-CN" altLang="en-US" dirty="0"/>
                  <a:t>，由稀到浓分别用</a:t>
                </a:r>
                <a:r>
                  <a:rPr lang="en-US" altLang="zh-CN" dirty="0"/>
                  <a:t>pH</a:t>
                </a:r>
                <a:r>
                  <a:rPr lang="zh-CN" altLang="en-US" dirty="0"/>
                  <a:t>计测定它们的</a:t>
                </a:r>
                <a:r>
                  <a:rPr lang="en-US" altLang="zh-CN" dirty="0"/>
                  <a:t>pH</a:t>
                </a:r>
                <a:r>
                  <a:rPr lang="zh-CN" altLang="en-US" dirty="0"/>
                  <a:t>值，并记录实验时的室温。</a:t>
                </a:r>
                <a:endParaRPr lang="en-US" altLang="zh-CN" dirty="0"/>
              </a:p>
              <a:p>
                <a:r>
                  <a:rPr lang="zh-CN" altLang="en-US" dirty="0"/>
                  <a:t>四  实验结果及数据处理要求</a:t>
                </a:r>
                <a:endParaRPr lang="en-US" altLang="zh-CN" dirty="0"/>
              </a:p>
              <a:p>
                <a:r>
                  <a:rPr lang="en-US" altLang="zh-CN" dirty="0"/>
                  <a:t>      1  </a:t>
                </a:r>
                <a:r>
                  <a:rPr lang="en-US" altLang="zh-CN" dirty="0" err="1"/>
                  <a:t>HAc</a:t>
                </a:r>
                <a:r>
                  <a:rPr lang="zh-CN" altLang="en-US" dirty="0"/>
                  <a:t>溶液浓度的标定及计算</a:t>
                </a:r>
                <a:endParaRPr lang="en-US" altLang="zh-CN" dirty="0"/>
              </a:p>
              <a:p>
                <a:r>
                  <a:rPr lang="en-US" altLang="zh-CN" dirty="0"/>
                  <a:t>      2  </a:t>
                </a:r>
                <a:r>
                  <a:rPr lang="zh-CN" altLang="en-US" dirty="0"/>
                  <a:t>数据记录在下表中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DDC2038-B065-47F5-8ACA-97FF3F01CF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1905" y="145915"/>
                <a:ext cx="10515600" cy="5982410"/>
              </a:xfrm>
              <a:blipFill>
                <a:blip r:embed="rId3"/>
                <a:stretch>
                  <a:fillRect l="-1043" t="-1937" r="-5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E352F853-74FB-4739-BC54-4BA9FBBEEC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1749534"/>
                  </p:ext>
                </p:extLst>
              </p:nvPr>
            </p:nvGraphicFramePr>
            <p:xfrm>
              <a:off x="1518056" y="4059029"/>
              <a:ext cx="9835744" cy="2494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3111">
                      <a:extLst>
                        <a:ext uri="{9D8B030D-6E8A-4147-A177-3AD203B41FA5}">
                          <a16:colId xmlns:a16="http://schemas.microsoft.com/office/drawing/2014/main" val="1897245220"/>
                        </a:ext>
                      </a:extLst>
                    </a:gridCol>
                    <a:gridCol w="1597942">
                      <a:extLst>
                        <a:ext uri="{9D8B030D-6E8A-4147-A177-3AD203B41FA5}">
                          <a16:colId xmlns:a16="http://schemas.microsoft.com/office/drawing/2014/main" val="822411852"/>
                        </a:ext>
                      </a:extLst>
                    </a:gridCol>
                    <a:gridCol w="2149849">
                      <a:extLst>
                        <a:ext uri="{9D8B030D-6E8A-4147-A177-3AD203B41FA5}">
                          <a16:colId xmlns:a16="http://schemas.microsoft.com/office/drawing/2014/main" val="457840874"/>
                        </a:ext>
                      </a:extLst>
                    </a:gridCol>
                    <a:gridCol w="583659">
                      <a:extLst>
                        <a:ext uri="{9D8B030D-6E8A-4147-A177-3AD203B41FA5}">
                          <a16:colId xmlns:a16="http://schemas.microsoft.com/office/drawing/2014/main" val="2248769453"/>
                        </a:ext>
                      </a:extLst>
                    </a:gridCol>
                    <a:gridCol w="1118681">
                      <a:extLst>
                        <a:ext uri="{9D8B030D-6E8A-4147-A177-3AD203B41FA5}">
                          <a16:colId xmlns:a16="http://schemas.microsoft.com/office/drawing/2014/main" val="2646128428"/>
                        </a:ext>
                      </a:extLst>
                    </a:gridCol>
                    <a:gridCol w="642026">
                      <a:extLst>
                        <a:ext uri="{9D8B030D-6E8A-4147-A177-3AD203B41FA5}">
                          <a16:colId xmlns:a16="http://schemas.microsoft.com/office/drawing/2014/main" val="1716908647"/>
                        </a:ext>
                      </a:extLst>
                    </a:gridCol>
                    <a:gridCol w="1040859">
                      <a:extLst>
                        <a:ext uri="{9D8B030D-6E8A-4147-A177-3AD203B41FA5}">
                          <a16:colId xmlns:a16="http://schemas.microsoft.com/office/drawing/2014/main" val="2667822974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778293658"/>
                        </a:ext>
                      </a:extLst>
                    </a:gridCol>
                    <a:gridCol w="885217">
                      <a:extLst>
                        <a:ext uri="{9D8B030D-6E8A-4147-A177-3AD203B41FA5}">
                          <a16:colId xmlns:a16="http://schemas.microsoft.com/office/drawing/2014/main" val="221928389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编号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err="1"/>
                            <a:t>HAc</a:t>
                          </a:r>
                          <a:r>
                            <a:rPr lang="zh-CN" altLang="en-US" dirty="0"/>
                            <a:t>溶液（已标定）体积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稀释后体积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c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altLang="zh-CN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i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altLang="zh-CN" i="1" smtClean="0">
                                            <a:latin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pH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[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  <m:sup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  <m:r>
                                <a:rPr lang="en-US" altLang="zh-CN" b="1" i="0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𝑯𝑨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b="1" i="1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</a:rPr>
                                  <m:t>𝝏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075274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5.00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cm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100.00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cm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299337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10.00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cm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100.00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cm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82436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25.00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cm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100.00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cm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28019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50.00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cm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100.00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cm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2139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100.00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cm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未稀释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28758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E352F853-74FB-4739-BC54-4BA9FBBEEC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1749534"/>
                  </p:ext>
                </p:extLst>
              </p:nvPr>
            </p:nvGraphicFramePr>
            <p:xfrm>
              <a:off x="1518056" y="4059029"/>
              <a:ext cx="9835744" cy="2494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03111">
                      <a:extLst>
                        <a:ext uri="{9D8B030D-6E8A-4147-A177-3AD203B41FA5}">
                          <a16:colId xmlns:a16="http://schemas.microsoft.com/office/drawing/2014/main" val="1897245220"/>
                        </a:ext>
                      </a:extLst>
                    </a:gridCol>
                    <a:gridCol w="1597942">
                      <a:extLst>
                        <a:ext uri="{9D8B030D-6E8A-4147-A177-3AD203B41FA5}">
                          <a16:colId xmlns:a16="http://schemas.microsoft.com/office/drawing/2014/main" val="822411852"/>
                        </a:ext>
                      </a:extLst>
                    </a:gridCol>
                    <a:gridCol w="2149849">
                      <a:extLst>
                        <a:ext uri="{9D8B030D-6E8A-4147-A177-3AD203B41FA5}">
                          <a16:colId xmlns:a16="http://schemas.microsoft.com/office/drawing/2014/main" val="457840874"/>
                        </a:ext>
                      </a:extLst>
                    </a:gridCol>
                    <a:gridCol w="583659">
                      <a:extLst>
                        <a:ext uri="{9D8B030D-6E8A-4147-A177-3AD203B41FA5}">
                          <a16:colId xmlns:a16="http://schemas.microsoft.com/office/drawing/2014/main" val="2248769453"/>
                        </a:ext>
                      </a:extLst>
                    </a:gridCol>
                    <a:gridCol w="1118681">
                      <a:extLst>
                        <a:ext uri="{9D8B030D-6E8A-4147-A177-3AD203B41FA5}">
                          <a16:colId xmlns:a16="http://schemas.microsoft.com/office/drawing/2014/main" val="2646128428"/>
                        </a:ext>
                      </a:extLst>
                    </a:gridCol>
                    <a:gridCol w="642026">
                      <a:extLst>
                        <a:ext uri="{9D8B030D-6E8A-4147-A177-3AD203B41FA5}">
                          <a16:colId xmlns:a16="http://schemas.microsoft.com/office/drawing/2014/main" val="1716908647"/>
                        </a:ext>
                      </a:extLst>
                    </a:gridCol>
                    <a:gridCol w="1040859">
                      <a:extLst>
                        <a:ext uri="{9D8B030D-6E8A-4147-A177-3AD203B41FA5}">
                          <a16:colId xmlns:a16="http://schemas.microsoft.com/office/drawing/2014/main" val="2667822974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1778293658"/>
                        </a:ext>
                      </a:extLst>
                    </a:gridCol>
                    <a:gridCol w="885217">
                      <a:extLst>
                        <a:ext uri="{9D8B030D-6E8A-4147-A177-3AD203B41FA5}">
                          <a16:colId xmlns:a16="http://schemas.microsoft.com/office/drawing/2014/main" val="2219283895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编号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err="1"/>
                            <a:t>HAc</a:t>
                          </a:r>
                          <a:r>
                            <a:rPr lang="zh-CN" altLang="en-US" dirty="0"/>
                            <a:t>溶液（已标定）体积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稀释后体积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c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467935" t="-4762" r="-312500" b="-3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pH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672515" t="-4762" r="-174854" b="-3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880667" t="-4762" r="-99333" b="-30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014483" t="-4762" r="-2759" b="-3047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752743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1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57252" t="-177419" r="-461069" b="-416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16714" t="-177419" r="-242210" b="-416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299337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2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57252" t="-281967" r="-461069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16714" t="-281967" r="-24221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782436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57252" t="-381967" r="-461069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16714" t="-381967" r="-24221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28019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4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57252" t="-481967" r="-461069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16714" t="-481967" r="-24221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242139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5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57252" t="-581967" r="-461069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未稀释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287585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820B2FE2-4F01-4F05-BA8F-EDC64E937CE8}"/>
                  </a:ext>
                </a:extLst>
              </p:cNvPr>
              <p:cNvSpPr/>
              <p:nvPr/>
            </p:nvSpPr>
            <p:spPr>
              <a:xfrm>
                <a:off x="-1293779" y="3372435"/>
                <a:ext cx="11620652" cy="52322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altLang="zh-CN" sz="2800" b="0" cap="none" spc="0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HAc</a:t>
                </a:r>
                <a:r>
                  <a:rPr lang="zh-CN" altLang="en-US" sz="2800" b="0" cap="none" spc="0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溶液电离常数和电离度的测定数据（室温：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cap="none" spc="0" smtClean="0">
                            <a:ln w="0"/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cap="none" spc="0" smtClean="0">
                            <a:ln w="0"/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e>
                      <m:sub>
                        <m:r>
                          <a:rPr lang="en-US" altLang="zh-CN" sz="2800" b="0" i="1" cap="none" spc="0" smtClean="0">
                            <a:ln w="0"/>
                            <a:solidFill>
                              <a:schemeClr val="accent1"/>
                            </a:solidFill>
                            <a:effectLst>
                              <a:outerShdw blurRad="38100" dist="25400" dir="5400000" algn="ctr" rotWithShape="0">
                                <a:srgbClr val="6E747A">
                                  <a:alpha val="43000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zh-CN" altLang="en-US" sz="28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820B2FE2-4F01-4F05-BA8F-EDC64E937C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93779" y="3372435"/>
                <a:ext cx="11620652" cy="523220"/>
              </a:xfrm>
              <a:prstGeom prst="rect">
                <a:avLst/>
              </a:prstGeom>
              <a:blipFill>
                <a:blip r:embed="rId5"/>
                <a:stretch>
                  <a:fillRect t="-12791" b="-383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5302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FFF785-0F2E-4C77-9617-EF49691D2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pH</a:t>
            </a:r>
            <a:r>
              <a:rPr lang="zh-CN" altLang="en-US" dirty="0"/>
              <a:t>计使用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ED5E943-ACB2-4DCF-8689-E6E647AABF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35353"/>
                <a:ext cx="10515600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zh-CN" altLang="en-US" sz="2400" dirty="0"/>
                  <a:t>一 原理：甘汞电极作为参比电极，在</a:t>
                </a:r>
                <a:r>
                  <a:rPr lang="en-US" altLang="zh-CN" sz="2400" dirty="0"/>
                  <a:t>25</a:t>
                </a:r>
                <a:r>
                  <a:rPr lang="zh-CN" altLang="en-US" sz="2400" dirty="0"/>
                  <a:t>℃时测量。这个电极的电势不受酸度影响，</a:t>
                </a:r>
                <a:endParaRPr lang="en-US" altLang="zh-CN" sz="2400" dirty="0"/>
              </a:p>
              <a:p>
                <a:pPr marL="0" indent="0">
                  <a:buNone/>
                </a:pPr>
                <a:r>
                  <a:rPr lang="en-US" altLang="zh-CN" sz="2400" dirty="0"/>
                  <a:t>           </a:t>
                </a:r>
                <a:r>
                  <a:rPr lang="zh-CN" altLang="en-US" sz="2400" dirty="0"/>
                  <a:t>玻璃电极，对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zh-CN" altLang="en-US" sz="2400" dirty="0"/>
                  <a:t>敏感，只能浸泡在水溶液之中，使用时应该从低浓度醋酸开始测量</a:t>
                </a:r>
                <a:endParaRPr lang="en-US" altLang="zh-CN" sz="2400" dirty="0"/>
              </a:p>
              <a:p>
                <a:pPr marL="0" indent="0">
                  <a:buNone/>
                </a:pPr>
                <a:r>
                  <a:rPr lang="zh-CN" altLang="en-US" sz="2400" dirty="0"/>
                  <a:t>二 使用步骤：</a:t>
                </a:r>
                <a:endParaRPr lang="en-US" altLang="zh-CN" sz="2400" dirty="0"/>
              </a:p>
              <a:p>
                <a:pPr marL="0" indent="0">
                  <a:buNone/>
                </a:pPr>
                <a:r>
                  <a:rPr lang="en-US" altLang="zh-CN" sz="2400" dirty="0"/>
                  <a:t>      1 </a:t>
                </a:r>
                <a:r>
                  <a:rPr lang="zh-CN" altLang="en-US" sz="2400" dirty="0"/>
                  <a:t>温度的测定和设定 按读数键显示样品温度；要将显示值静止在终点值上，按读数键。</a:t>
                </a:r>
                <a:endParaRPr lang="en-US" altLang="zh-CN" sz="2400" dirty="0"/>
              </a:p>
              <a:p>
                <a:pPr marL="0" indent="0">
                  <a:buNone/>
                </a:pPr>
                <a:r>
                  <a:rPr lang="en-US" altLang="zh-CN" sz="2400" dirty="0"/>
                  <a:t>      2  pH</a:t>
                </a:r>
                <a:r>
                  <a:rPr lang="zh-CN" altLang="en-US" sz="2400" dirty="0"/>
                  <a:t>值测定</a:t>
                </a:r>
                <a:endParaRPr lang="en-US" altLang="zh-CN" sz="2400" dirty="0"/>
              </a:p>
              <a:p>
                <a:pPr marL="0" indent="0">
                  <a:buNone/>
                </a:pPr>
                <a:r>
                  <a:rPr lang="en-US" altLang="zh-CN" sz="2400" dirty="0"/>
                  <a:t>      a.</a:t>
                </a:r>
                <a:r>
                  <a:rPr lang="zh-CN" altLang="en-US" sz="2400" dirty="0"/>
                  <a:t>设置校正溶液，周期性校正电极。需要用缓冲溶液校正。长按“模式”，进入</a:t>
                </a:r>
                <a:r>
                  <a:rPr lang="en-US" altLang="zh-CN" sz="2400" dirty="0"/>
                  <a:t>Prog</a:t>
                </a:r>
                <a:r>
                  <a:rPr lang="zh-CN" altLang="en-US" sz="2400" dirty="0"/>
                  <a:t>状态；按“模式”键进入</a:t>
                </a:r>
                <a:r>
                  <a:rPr lang="en-US" altLang="zh-CN" sz="2400" dirty="0"/>
                  <a:t>b=n</a:t>
                </a:r>
                <a:r>
                  <a:rPr lang="zh-CN" altLang="en-US" sz="2400" dirty="0"/>
                  <a:t>，调节</a:t>
                </a:r>
                <a:r>
                  <a:rPr lang="en-US" altLang="zh-CN" sz="2400" dirty="0"/>
                  <a:t>b</a:t>
                </a:r>
                <a:r>
                  <a:rPr lang="zh-CN" altLang="en-US" sz="2400" dirty="0"/>
                  <a:t>的数值。</a:t>
                </a:r>
                <a:endParaRPr lang="en-US" altLang="zh-CN" sz="2400" dirty="0"/>
              </a:p>
              <a:p>
                <a:pPr marL="0" indent="0">
                  <a:buNone/>
                </a:pPr>
                <a:r>
                  <a:rPr lang="en-US" altLang="zh-CN" sz="2400" dirty="0"/>
                  <a:t>       </a:t>
                </a:r>
                <a:r>
                  <a:rPr lang="zh-CN" altLang="en-US" sz="2400" dirty="0"/>
                  <a:t>一般学生实验使用</a:t>
                </a:r>
                <a:r>
                  <a:rPr lang="en-US" altLang="zh-CN" sz="2400" dirty="0"/>
                  <a:t>b=3</a:t>
                </a:r>
                <a:r>
                  <a:rPr lang="zh-CN" altLang="en-US" sz="2400" dirty="0"/>
                  <a:t>缓冲溶液组，按“读数”键确认并退回到正常测量状态。</a:t>
                </a:r>
                <a:r>
                  <a:rPr lang="en-US" altLang="zh-CN" sz="2400" dirty="0"/>
                  <a:t>       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ED5E943-ACB2-4DCF-8689-E6E647AABF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35353"/>
                <a:ext cx="10515600" cy="4351338"/>
              </a:xfrm>
              <a:blipFill>
                <a:blip r:embed="rId3"/>
                <a:stretch>
                  <a:fillRect l="-928" t="-1821" r="-3304" b="-137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879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0315527-51F3-40C7-99A4-EFAE1DBEFC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6634"/>
            <a:ext cx="12192000" cy="5558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005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95ED81-1FD5-4C44-A3E9-7B97F65BA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553" y="282103"/>
            <a:ext cx="10515600" cy="6031048"/>
          </a:xfrm>
          <a:blipFill>
            <a:blip r:embed="rId2"/>
            <a:tile tx="0" ty="0" sx="100000" sy="100000" flip="none" algn="tl"/>
          </a:blip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dirty="0"/>
              <a:t>b.</a:t>
            </a:r>
            <a:r>
              <a:rPr lang="zh-CN" altLang="en-US" dirty="0"/>
              <a:t>校正</a:t>
            </a:r>
            <a:r>
              <a:rPr lang="en-US" altLang="zh-CN" dirty="0"/>
              <a:t>pH</a:t>
            </a:r>
            <a:r>
              <a:rPr lang="zh-CN" altLang="en-US" dirty="0"/>
              <a:t>电极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en-US" dirty="0"/>
              <a:t>一点校正：放入缓冲液，按“校正”键，按“读数”保存结果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en-US" dirty="0"/>
              <a:t>两点校正：一点校正结束后，不按“读数”键，将电极放入第二种缓冲液然后按“校正”键，按“读数”校正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c.</a:t>
            </a:r>
            <a:r>
              <a:rPr lang="zh-CN" altLang="en-US" dirty="0"/>
              <a:t>测定某一样品的</a:t>
            </a:r>
            <a:r>
              <a:rPr lang="en-US" altLang="zh-CN" dirty="0"/>
              <a:t>pH</a:t>
            </a:r>
            <a:r>
              <a:rPr lang="zh-CN" altLang="en-US" dirty="0"/>
              <a:t>值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en-US" dirty="0"/>
              <a:t>按“读数”启动测定过程，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en-US" dirty="0"/>
              <a:t>出现</a:t>
            </a:r>
            <a:r>
              <a:rPr lang="en-US" altLang="zh-CN" dirty="0"/>
              <a:t>A</a:t>
            </a:r>
            <a:r>
              <a:rPr lang="zh-CN" altLang="en-US" dirty="0"/>
              <a:t>，自动终点判断方式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en-US" dirty="0"/>
              <a:t>无</a:t>
            </a:r>
            <a:r>
              <a:rPr lang="en-US" altLang="zh-CN" dirty="0"/>
              <a:t>A</a:t>
            </a:r>
            <a:r>
              <a:rPr lang="zh-CN" altLang="en-US" dirty="0"/>
              <a:t>，手动重点判断方式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</a:t>
            </a:r>
            <a:r>
              <a:rPr lang="zh-CN" altLang="en-US" dirty="0"/>
              <a:t>然后按“读数”键结束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400" dirty="0"/>
              <a:t>2 </a:t>
            </a:r>
            <a:r>
              <a:rPr lang="zh-CN" altLang="en-US" sz="2400" dirty="0"/>
              <a:t>使用注意事项：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1   </a:t>
            </a:r>
            <a:r>
              <a:rPr lang="zh-CN" altLang="en-US" sz="2400" dirty="0"/>
              <a:t>测量之前需要让玻璃电极在去离子水中浸泡</a:t>
            </a:r>
            <a:r>
              <a:rPr lang="en-US" altLang="zh-CN" sz="2400" dirty="0"/>
              <a:t>24h</a:t>
            </a:r>
            <a:r>
              <a:rPr lang="zh-CN" altLang="en-US" sz="2400" dirty="0"/>
              <a:t>活化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2   </a:t>
            </a:r>
            <a:r>
              <a:rPr lang="zh-CN" altLang="en-US" sz="2400" dirty="0"/>
              <a:t>测量之后仍然需要浸泡在玻璃电极中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3   </a:t>
            </a:r>
            <a:r>
              <a:rPr lang="zh-CN" altLang="en-US" sz="2400" dirty="0"/>
              <a:t>测量碱性溶液需要快速操作，立即用水洗涤玻璃球泡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4   </a:t>
            </a:r>
            <a:r>
              <a:rPr lang="zh-CN" altLang="en-US" sz="2400" dirty="0"/>
              <a:t>使用过后清理电极表面，保存在饱和</a:t>
            </a:r>
            <a:r>
              <a:rPr lang="en-US" altLang="zh-CN" sz="2400" dirty="0" err="1"/>
              <a:t>KCl</a:t>
            </a:r>
            <a:r>
              <a:rPr lang="zh-CN" altLang="en-US" sz="2400" dirty="0"/>
              <a:t>溶液中</a:t>
            </a:r>
            <a:endParaRPr lang="en-US" altLang="zh-CN" sz="24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2578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B46DF6E-C140-4FEC-B7E0-10AEEF5B9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7864"/>
            <a:ext cx="10515600" cy="5029099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1 </a:t>
            </a:r>
            <a:r>
              <a:rPr lang="zh-CN" altLang="en-US" dirty="0"/>
              <a:t>使用之前需要先清洗，再润洗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 </a:t>
            </a:r>
            <a:r>
              <a:rPr lang="zh-CN" altLang="en-US" dirty="0"/>
              <a:t>碱式滴定管需要排气泡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 </a:t>
            </a:r>
            <a:r>
              <a:rPr lang="zh-CN" altLang="en-US" dirty="0"/>
              <a:t>滴定之前最好从</a:t>
            </a:r>
            <a:r>
              <a:rPr lang="en-US" altLang="zh-CN" dirty="0"/>
              <a:t>0.00ml</a:t>
            </a:r>
            <a:r>
              <a:rPr lang="zh-CN" altLang="en-US" dirty="0"/>
              <a:t>开始</a:t>
            </a: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794890DF-C3B2-42EB-A9C4-7E6CEBFC7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2739"/>
          </a:xfrm>
        </p:spPr>
        <p:txBody>
          <a:bodyPr/>
          <a:lstStyle/>
          <a:p>
            <a:r>
              <a:rPr lang="zh-CN" altLang="en-US" dirty="0"/>
              <a:t>碱式滴定管的使用</a:t>
            </a:r>
          </a:p>
        </p:txBody>
      </p:sp>
    </p:spTree>
    <p:extLst>
      <p:ext uri="{BB962C8B-B14F-4D97-AF65-F5344CB8AC3E}">
        <p14:creationId xmlns:p14="http://schemas.microsoft.com/office/powerpoint/2010/main" val="3513147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935192-1C6E-43B3-A034-EC6F90C22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2194"/>
          </a:xfrm>
        </p:spPr>
        <p:txBody>
          <a:bodyPr/>
          <a:lstStyle/>
          <a:p>
            <a:r>
              <a:rPr lang="zh-CN" altLang="en-US" dirty="0"/>
              <a:t>一点小小的思考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A1B55E-C1D6-4E55-8D8D-836EC6B98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3779"/>
            <a:ext cx="10515600" cy="4883184"/>
          </a:xfrm>
        </p:spPr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、连续测定不同浓度的</a:t>
            </a:r>
            <a:r>
              <a:rPr lang="en-US" altLang="zh-CN" dirty="0" err="1"/>
              <a:t>HAc</a:t>
            </a:r>
            <a:r>
              <a:rPr lang="zh-CN" altLang="en-US" dirty="0"/>
              <a:t>溶液的</a:t>
            </a:r>
            <a:r>
              <a:rPr lang="en-US" altLang="zh-CN" dirty="0"/>
              <a:t>pH</a:t>
            </a:r>
            <a:r>
              <a:rPr lang="zh-CN" altLang="en-US" dirty="0"/>
              <a:t>值的时候</a:t>
            </a:r>
            <a:r>
              <a:rPr lang="en-US" altLang="zh-CN" dirty="0"/>
              <a:t>,</a:t>
            </a:r>
            <a:r>
              <a:rPr lang="zh-CN" altLang="en-US" dirty="0"/>
              <a:t>从稀溶液到浓溶液的好处是什么？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、本实验测得的电离常数与真实值是否有差别，来源在哪里？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、本实验所用的</a:t>
            </a:r>
            <a:r>
              <a:rPr lang="en-US" altLang="zh-CN" dirty="0" err="1"/>
              <a:t>NaOHaq</a:t>
            </a:r>
            <a:r>
              <a:rPr lang="zh-CN" altLang="en-US" dirty="0"/>
              <a:t>是</a:t>
            </a:r>
            <a:r>
              <a:rPr lang="en-US" altLang="zh-CN" dirty="0"/>
              <a:t>0.2mol/L</a:t>
            </a:r>
            <a:r>
              <a:rPr lang="zh-CN" altLang="en-US" dirty="0"/>
              <a:t>而不是常用的</a:t>
            </a:r>
            <a:r>
              <a:rPr lang="en-US" altLang="zh-CN" dirty="0"/>
              <a:t>0.1mol/L</a:t>
            </a:r>
            <a:r>
              <a:rPr lang="zh-CN" altLang="en-US" dirty="0"/>
              <a:t>，设计时考虑了什么因素？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、容量瓶的使用。</a:t>
            </a:r>
          </a:p>
        </p:txBody>
      </p:sp>
    </p:spTree>
    <p:extLst>
      <p:ext uri="{BB962C8B-B14F-4D97-AF65-F5344CB8AC3E}">
        <p14:creationId xmlns:p14="http://schemas.microsoft.com/office/powerpoint/2010/main" val="2687811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9B471A-BE52-4B42-A049-FEA9AAE6C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答案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2A85C6-3C50-478A-94C7-6923298ED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3906"/>
            <a:ext cx="10515600" cy="4351338"/>
          </a:xfrm>
        </p:spPr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使得</a:t>
            </a:r>
            <a:r>
              <a:rPr lang="en-US" altLang="zh-CN" dirty="0"/>
              <a:t>pH</a:t>
            </a:r>
            <a:r>
              <a:rPr lang="zh-CN" altLang="en-US" dirty="0"/>
              <a:t>计测量的速度更快。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 ：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333333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Ⅰ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温度高，促进电离</a:t>
            </a:r>
            <a:br>
              <a:rPr lang="zh-CN" altLang="en-US" dirty="0"/>
            </a:br>
            <a:r>
              <a:rPr lang="en-US" altLang="zh-CN" dirty="0">
                <a:solidFill>
                  <a:srgbClr val="333333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Ⅱ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酸碱指示剂测定可能有半滴的误差</a:t>
            </a:r>
            <a:br>
              <a:rPr lang="zh-CN" altLang="en-US" dirty="0"/>
            </a:br>
            <a:r>
              <a:rPr lang="en-US" altLang="zh-CN" dirty="0"/>
              <a:t>Ⅲ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离子活度，纯溶液和已经形成醋酸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-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醋酸盐的滴定溶液，离子强度不同，（不过这点差异可能测不出）（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在电解质溶液中，离子相互作用使得离子通常不能完全发挥其作用。离子实际发挥作用的浓度称为有效浓度，或称为活度（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activity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），显然活度的数值通常比其对应的浓度数值要小些。）（具体请自行百度了解）</a:t>
            </a: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3245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4E298-CAC3-40FD-B8D1-D323C4A00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答案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C5BD72-11CA-407A-99C3-552E70595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Ⅰ</a:t>
            </a:r>
            <a:r>
              <a:rPr lang="zh-CN" altLang="en-US" dirty="0"/>
              <a:t>由于</a:t>
            </a:r>
            <a:r>
              <a:rPr lang="en-US" altLang="zh-CN" dirty="0" err="1"/>
              <a:t>HAc</a:t>
            </a:r>
            <a:r>
              <a:rPr lang="zh-CN" altLang="en-US" dirty="0"/>
              <a:t>的浓度是</a:t>
            </a:r>
            <a:r>
              <a:rPr lang="en-US" altLang="zh-CN" dirty="0"/>
              <a:t>0.2mol/L,</a:t>
            </a:r>
            <a:r>
              <a:rPr lang="zh-CN" altLang="en-US" dirty="0"/>
              <a:t>如果用</a:t>
            </a:r>
            <a:r>
              <a:rPr lang="en-US" altLang="zh-CN" dirty="0"/>
              <a:t>0.1mol/L</a:t>
            </a:r>
            <a:r>
              <a:rPr lang="zh-CN" altLang="en-US" dirty="0"/>
              <a:t>的</a:t>
            </a:r>
            <a:r>
              <a:rPr lang="en-US" altLang="zh-CN" dirty="0" err="1"/>
              <a:t>NaOHaq</a:t>
            </a:r>
            <a:r>
              <a:rPr lang="zh-CN" altLang="en-US" dirty="0"/>
              <a:t>会使   滴定液体积过大</a:t>
            </a:r>
            <a:endParaRPr lang="en-US" altLang="zh-CN" dirty="0"/>
          </a:p>
          <a:p>
            <a:r>
              <a:rPr lang="en-US" altLang="zh-CN" dirty="0"/>
              <a:t>      Ⅱ</a:t>
            </a:r>
            <a:r>
              <a:rPr lang="zh-CN" altLang="en-US" dirty="0"/>
              <a:t>若两者都是</a:t>
            </a:r>
            <a:r>
              <a:rPr lang="en-US" altLang="zh-CN" dirty="0"/>
              <a:t>0.1mol/L,</a:t>
            </a:r>
            <a:r>
              <a:rPr lang="zh-CN" altLang="en-US" dirty="0"/>
              <a:t>猜测由于</a:t>
            </a:r>
            <a:r>
              <a:rPr lang="en-US" altLang="zh-CN" dirty="0"/>
              <a:t>[H</a:t>
            </a:r>
            <a:r>
              <a:rPr lang="en-US" altLang="zh-CN" baseline="30000" dirty="0"/>
              <a:t>+</a:t>
            </a:r>
            <a:r>
              <a:rPr lang="en-US" altLang="zh-CN" dirty="0"/>
              <a:t>]</a:t>
            </a:r>
            <a:r>
              <a:rPr lang="zh-CN" altLang="en-US" dirty="0"/>
              <a:t>在反应的过程中过小而不  灵敏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、现场讲解。</a:t>
            </a:r>
          </a:p>
        </p:txBody>
      </p:sp>
    </p:spTree>
    <p:extLst>
      <p:ext uri="{BB962C8B-B14F-4D97-AF65-F5344CB8AC3E}">
        <p14:creationId xmlns:p14="http://schemas.microsoft.com/office/powerpoint/2010/main" val="2379126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931</Words>
  <Application>Microsoft Office PowerPoint</Application>
  <PresentationFormat>宽屏</PresentationFormat>
  <Paragraphs>82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PingFang SC</vt:lpstr>
      <vt:lpstr>等线</vt:lpstr>
      <vt:lpstr>等线 Light</vt:lpstr>
      <vt:lpstr>Arial</vt:lpstr>
      <vt:lpstr>Arial</vt:lpstr>
      <vt:lpstr>Cambria Math</vt:lpstr>
      <vt:lpstr>Mongolian Baiti</vt:lpstr>
      <vt:lpstr>Office 主题​​</vt:lpstr>
      <vt:lpstr>PowerPoint 演示文稿</vt:lpstr>
      <vt:lpstr>实验目的：</vt:lpstr>
      <vt:lpstr>实验原理：</vt:lpstr>
      <vt:lpstr>PowerPoint 演示文稿</vt:lpstr>
      <vt:lpstr>实验步骤</vt:lpstr>
      <vt:lpstr>PowerPoint 演示文稿</vt:lpstr>
      <vt:lpstr>pH计使用</vt:lpstr>
      <vt:lpstr>PowerPoint 演示文稿</vt:lpstr>
      <vt:lpstr>PowerPoint 演示文稿</vt:lpstr>
      <vt:lpstr>碱式滴定管的使用</vt:lpstr>
      <vt:lpstr>一点小小的思考</vt:lpstr>
      <vt:lpstr>答案</vt:lpstr>
      <vt:lpstr>答案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邹贺同</dc:creator>
  <cp:lastModifiedBy> </cp:lastModifiedBy>
  <cp:revision>25</cp:revision>
  <dcterms:created xsi:type="dcterms:W3CDTF">2020-10-09T12:34:48Z</dcterms:created>
  <dcterms:modified xsi:type="dcterms:W3CDTF">2020-10-13T04:46:40Z</dcterms:modified>
</cp:coreProperties>
</file>